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388" r:id="rId2"/>
    <p:sldId id="38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25418E"/>
    <a:srgbClr val="104496"/>
    <a:srgbClr val="4C62A0"/>
    <a:srgbClr val="0B3E90"/>
    <a:srgbClr val="1D4997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8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U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CE3559-6017-4EA7-9FB2-EFF1484BA4AA}" type="datetimeFigureOut">
              <a:rPr lang="es-UY" smtClean="0"/>
              <a:t>20/7/2026</a:t>
            </a:fld>
            <a:endParaRPr lang="es-U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U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U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U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97182F-22FC-424F-B759-A41D363754BB}" type="slidenum">
              <a:rPr lang="es-UY" smtClean="0"/>
              <a:t>‹#›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3732845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0D60FF-BFE0-4BC9-99F9-B21D5F1C92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0833" y="776378"/>
            <a:ext cx="5888967" cy="5460520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6EA60C3-7277-415A-AC24-F5F204387A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776376"/>
            <a:ext cx="5888967" cy="5460519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11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EAF2F5-5825-4F49-B706-FF5318ADF0AA}"/>
              </a:ext>
            </a:extLst>
          </p:cNvPr>
          <p:cNvSpPr/>
          <p:nvPr userDrawn="1"/>
        </p:nvSpPr>
        <p:spPr>
          <a:xfrm>
            <a:off x="0" y="6290613"/>
            <a:ext cx="12192000" cy="57154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CC8FC0-449A-44C2-8F1C-E0A1D26CE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8407" y="773272"/>
            <a:ext cx="11878573" cy="5454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pic>
        <p:nvPicPr>
          <p:cNvPr id="5" name="Picture 4" descr="A logo with a sun and a blue and yellow shield&#10;&#10;AI-generated content may be incorrect.">
            <a:extLst>
              <a:ext uri="{FF2B5EF4-FFF2-40B4-BE49-F238E27FC236}">
                <a16:creationId xmlns:a16="http://schemas.microsoft.com/office/drawing/2014/main" id="{61F284C7-32BE-EEE8-F367-9705CAB7840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8" t="14393" r="4353" b="11930"/>
          <a:stretch/>
        </p:blipFill>
        <p:spPr>
          <a:xfrm>
            <a:off x="198407" y="6304610"/>
            <a:ext cx="1099864" cy="5533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63F0774-B876-DB30-E60C-F7F44BCB12A0}"/>
              </a:ext>
            </a:extLst>
          </p:cNvPr>
          <p:cNvSpPr/>
          <p:nvPr userDrawn="1"/>
        </p:nvSpPr>
        <p:spPr>
          <a:xfrm>
            <a:off x="0" y="-596"/>
            <a:ext cx="12192000" cy="711526"/>
          </a:xfrm>
          <a:prstGeom prst="rect">
            <a:avLst/>
          </a:prstGeom>
          <a:solidFill>
            <a:srgbClr val="1044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38EDC4-8ADD-BDF9-E22B-29EE15811682}"/>
              </a:ext>
            </a:extLst>
          </p:cNvPr>
          <p:cNvSpPr txBox="1"/>
          <p:nvPr userDrawn="1"/>
        </p:nvSpPr>
        <p:spPr>
          <a:xfrm>
            <a:off x="1380226" y="6444581"/>
            <a:ext cx="106967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i="1" dirty="0">
                <a:solidFill>
                  <a:schemeClr val="bg2">
                    <a:lumMod val="50000"/>
                  </a:schemeClr>
                </a:solidFill>
                <a:latin typeface="Arial Nova" panose="020B0504020202020204" pitchFamily="34" charset="0"/>
              </a:rPr>
              <a:t>Información elaborada por la Dirección Nacional de Aguas, único de carácter oficial en la República Oriental del Uruguay (Articulo 462° de la Ley 20.446) </a:t>
            </a:r>
            <a:endParaRPr lang="es-UY" sz="1100" i="1" dirty="0">
              <a:solidFill>
                <a:schemeClr val="bg2">
                  <a:lumMod val="50000"/>
                </a:schemeClr>
              </a:solidFill>
              <a:latin typeface="Arial Nova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954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bg1"/>
          </a:solidFill>
          <a:latin typeface="Arial Nova" panose="020B0504020202020204" pitchFamily="34" charset="0"/>
          <a:ea typeface="Open Sans ExtraBold" panose="020B0906030804020204" pitchFamily="34" charset="0"/>
          <a:cs typeface="Sora ExtraBold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 Nova" panose="020B0504020202020204" pitchFamily="34" charset="0"/>
          <a:ea typeface="+mn-ea"/>
          <a:cs typeface="Sora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 Nova" panose="020B0504020202020204" pitchFamily="34" charset="0"/>
          <a:ea typeface="+mn-ea"/>
          <a:cs typeface="Sora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 Nova" panose="020B0504020202020204" pitchFamily="34" charset="0"/>
          <a:ea typeface="+mn-ea"/>
          <a:cs typeface="Sora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 Nova" panose="020B0504020202020204" pitchFamily="34" charset="0"/>
          <a:ea typeface="+mn-ea"/>
          <a:cs typeface="Sora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 Nova" panose="020B0504020202020204" pitchFamily="34" charset="0"/>
          <a:ea typeface="+mn-ea"/>
          <a:cs typeface="Sora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B77062A2-DEAE-A6F7-D596-45CDC493F93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0175" y="855708"/>
            <a:ext cx="5889625" cy="5302159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40DFAF7-B1B0-17C5-C31F-0CBD5A7F6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9800" y="776376"/>
            <a:ext cx="6071846" cy="5460519"/>
          </a:xfrm>
        </p:spPr>
        <p:txBody>
          <a:bodyPr wrap="square" lIns="91440" tIns="0" rIns="91440" bIns="0" anchor="ctr">
            <a:normAutofit/>
          </a:bodyPr>
          <a:lstStyle/>
          <a:p>
            <a:pPr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25418E"/>
              </a:buClr>
              <a:buSzPct val="200000"/>
            </a:pPr>
            <a:r>
              <a:rPr lang="es-UY" sz="1500" dirty="0">
                <a:solidFill>
                  <a:schemeClr val="tx1"/>
                </a:solidFill>
              </a:rPr>
              <a:t>Acumulados de </a:t>
            </a:r>
            <a:r>
              <a:rPr lang="es-UY" sz="1500" b="1" dirty="0">
                <a:solidFill>
                  <a:schemeClr val="tx1"/>
                </a:solidFill>
              </a:rPr>
              <a:t>lluvia</a:t>
            </a:r>
            <a:r>
              <a:rPr lang="es-UY" sz="1500" dirty="0">
                <a:solidFill>
                  <a:schemeClr val="tx1"/>
                </a:solidFill>
              </a:rPr>
              <a:t> que rondan entre </a:t>
            </a:r>
            <a:r>
              <a:rPr lang="es-UY" sz="1500" b="1" dirty="0">
                <a:solidFill>
                  <a:schemeClr val="tx1"/>
                </a:solidFill>
              </a:rPr>
              <a:t>25 a 75 mm </a:t>
            </a:r>
            <a:r>
              <a:rPr lang="es-UY" sz="1500" dirty="0">
                <a:solidFill>
                  <a:schemeClr val="tx1"/>
                </a:solidFill>
              </a:rPr>
              <a:t>en los últimos dos días (16 y 17 julio) en la </a:t>
            </a:r>
            <a:r>
              <a:rPr lang="es-UY" sz="1500" b="1" dirty="0">
                <a:solidFill>
                  <a:schemeClr val="tx1"/>
                </a:solidFill>
              </a:rPr>
              <a:t>zona noreste, este y centro </a:t>
            </a:r>
            <a:r>
              <a:rPr lang="es-UY" sz="1500" dirty="0">
                <a:solidFill>
                  <a:schemeClr val="tx1"/>
                </a:solidFill>
              </a:rPr>
              <a:t>del país. </a:t>
            </a:r>
          </a:p>
          <a:p>
            <a:pPr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25418E"/>
              </a:buClr>
              <a:buSzPct val="200000"/>
            </a:pPr>
            <a:r>
              <a:rPr lang="es-UY" sz="1500" dirty="0">
                <a:solidFill>
                  <a:schemeClr val="tx1"/>
                </a:solidFill>
              </a:rPr>
              <a:t>Condiciones antecedente de </a:t>
            </a:r>
            <a:r>
              <a:rPr lang="es-UY" sz="1500" b="1" dirty="0">
                <a:solidFill>
                  <a:schemeClr val="tx1"/>
                </a:solidFill>
              </a:rPr>
              <a:t>humedad de suelo </a:t>
            </a:r>
            <a:r>
              <a:rPr lang="es-UY" sz="1500" dirty="0">
                <a:solidFill>
                  <a:schemeClr val="tx1"/>
                </a:solidFill>
              </a:rPr>
              <a:t>en el rango por </a:t>
            </a:r>
            <a:r>
              <a:rPr lang="es-UY" sz="1500" b="1" dirty="0">
                <a:solidFill>
                  <a:schemeClr val="tx1"/>
                </a:solidFill>
              </a:rPr>
              <a:t>debajo de lo normal </a:t>
            </a:r>
            <a:r>
              <a:rPr lang="es-UY" sz="1500" dirty="0">
                <a:solidFill>
                  <a:schemeClr val="tx1"/>
                </a:solidFill>
              </a:rPr>
              <a:t>en la zona norte, noreste, este y sur del país. En la zona centro condiciones de humedad dentro del rango normal para la época del año. </a:t>
            </a:r>
          </a:p>
          <a:p>
            <a:pPr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25418E"/>
              </a:buClr>
              <a:buSzPct val="200000"/>
            </a:pPr>
            <a:r>
              <a:rPr lang="es-UY" sz="1500" dirty="0">
                <a:solidFill>
                  <a:schemeClr val="tx1"/>
                </a:solidFill>
              </a:rPr>
              <a:t>Hasta la emisión de este informe, se observa un incremento leve del caudal del </a:t>
            </a:r>
            <a:r>
              <a:rPr lang="es-UY" sz="1500" b="1" dirty="0">
                <a:solidFill>
                  <a:schemeClr val="tx1"/>
                </a:solidFill>
              </a:rPr>
              <a:t>río Tacuarembó </a:t>
            </a:r>
            <a:r>
              <a:rPr lang="es-UY" sz="1500" dirty="0">
                <a:solidFill>
                  <a:schemeClr val="tx1"/>
                </a:solidFill>
              </a:rPr>
              <a:t>en Paso Manuel Diaz. En el resto de sitios monitoreo de la red hidrométrica nacional, </a:t>
            </a:r>
            <a:r>
              <a:rPr lang="es-UY" sz="1500" b="1" u="sng" dirty="0">
                <a:solidFill>
                  <a:schemeClr val="tx1"/>
                </a:solidFill>
              </a:rPr>
              <a:t>NO</a:t>
            </a:r>
            <a:r>
              <a:rPr lang="es-UY" sz="1500" dirty="0">
                <a:solidFill>
                  <a:schemeClr val="tx1"/>
                </a:solidFill>
              </a:rPr>
              <a:t> se registran incrementos de nivel significativos en los ríos y arroyos.   </a:t>
            </a:r>
          </a:p>
          <a:p>
            <a:pPr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25418E"/>
              </a:buClr>
              <a:buSzPct val="200000"/>
            </a:pPr>
            <a:r>
              <a:rPr lang="es-UY" sz="1500" dirty="0">
                <a:solidFill>
                  <a:schemeClr val="tx1"/>
                </a:solidFill>
              </a:rPr>
              <a:t>CTM-Salto Grande reporta vertedero cerrado y que el caudal medio diario evacuado variará entre 6500 y 4000 m</a:t>
            </a:r>
            <a:r>
              <a:rPr lang="es-UY" sz="1500" baseline="30000" dirty="0">
                <a:solidFill>
                  <a:schemeClr val="tx1"/>
                </a:solidFill>
              </a:rPr>
              <a:t>3</a:t>
            </a:r>
            <a:r>
              <a:rPr lang="es-UY" sz="1500" dirty="0">
                <a:solidFill>
                  <a:schemeClr val="tx1"/>
                </a:solidFill>
              </a:rPr>
              <a:t>/s. Nivel del río </a:t>
            </a:r>
          </a:p>
          <a:p>
            <a:pPr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25418E"/>
              </a:buClr>
              <a:buSzPct val="200000"/>
            </a:pPr>
            <a:r>
              <a:rPr lang="es-UY" sz="1500" dirty="0">
                <a:solidFill>
                  <a:schemeClr val="tx1"/>
                </a:solidFill>
              </a:rPr>
              <a:t>UTE reporta que el caudal a evacuar en la represa Constitución variará entre 132 a 405 m</a:t>
            </a:r>
            <a:r>
              <a:rPr lang="es-UY" sz="1500" baseline="30000" dirty="0">
                <a:solidFill>
                  <a:schemeClr val="tx1"/>
                </a:solidFill>
              </a:rPr>
              <a:t>3</a:t>
            </a:r>
            <a:r>
              <a:rPr lang="es-UY" sz="1500" dirty="0">
                <a:solidFill>
                  <a:schemeClr val="tx1"/>
                </a:solidFill>
              </a:rPr>
              <a:t>/s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F739A5B-51D3-512D-3806-36AAFD14310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98407" y="69021"/>
            <a:ext cx="11879262" cy="41275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s-UY" dirty="0"/>
              <a:t>Estado hidrológico actual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B9160D-938E-E970-8AE4-231322607C6A}"/>
              </a:ext>
            </a:extLst>
          </p:cNvPr>
          <p:cNvSpPr txBox="1"/>
          <p:nvPr/>
        </p:nvSpPr>
        <p:spPr>
          <a:xfrm>
            <a:off x="198407" y="438523"/>
            <a:ext cx="1187857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b="1" dirty="0">
                <a:solidFill>
                  <a:schemeClr val="bg1"/>
                </a:solidFill>
                <a:latin typeface="Arial Nova" panose="020B0504020202020204" pitchFamily="34" charset="0"/>
              </a:rPr>
              <a:t>Fecha emisión: Sábado, 18 de julio de 2026 </a:t>
            </a:r>
            <a:endParaRPr lang="es-UY" sz="1100" b="1" dirty="0">
              <a:solidFill>
                <a:schemeClr val="bg1"/>
              </a:solidFill>
              <a:latin typeface="Arial Nova" panose="020B05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C0FAE7-2069-3189-49EA-B1179FAA86E3}"/>
              </a:ext>
            </a:extLst>
          </p:cNvPr>
          <p:cNvSpPr txBox="1"/>
          <p:nvPr/>
        </p:nvSpPr>
        <p:spPr>
          <a:xfrm>
            <a:off x="78419" y="6051528"/>
            <a:ext cx="588962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 dirty="0">
                <a:latin typeface="Arial Nova" panose="020B0504020202020204" pitchFamily="34" charset="0"/>
              </a:rPr>
              <a:t>Periodo: 07:00 horas 16 Julio hasta 07:00 horas 18 Julio 2026</a:t>
            </a:r>
            <a:endParaRPr lang="es-UY" sz="1100" b="1" dirty="0">
              <a:latin typeface="Arial Nova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9060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B77062A2-DEAE-A6F7-D596-45CDC493F93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0175" y="855708"/>
            <a:ext cx="5889625" cy="5302159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40DFAF7-B1B0-17C5-C31F-0CBD5A7F6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9800" y="776376"/>
            <a:ext cx="6071846" cy="5460519"/>
          </a:xfrm>
        </p:spPr>
        <p:txBody>
          <a:bodyPr wrap="square" lIns="91440" tIns="0" rIns="91440" bIns="0" anchor="ctr">
            <a:normAutofit fontScale="92500" lnSpcReduction="10000"/>
          </a:bodyPr>
          <a:lstStyle/>
          <a:p>
            <a:pPr marL="0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25418E"/>
              </a:buClr>
              <a:buSzPct val="200000"/>
              <a:buNone/>
            </a:pPr>
            <a:r>
              <a:rPr lang="es-UY" sz="1500" b="1" dirty="0">
                <a:solidFill>
                  <a:schemeClr val="bg1"/>
                </a:solidFill>
                <a:highlight>
                  <a:srgbClr val="008000"/>
                </a:highlight>
              </a:rPr>
              <a:t>Vigilancia</a:t>
            </a:r>
            <a:endParaRPr lang="es-UY" sz="1500" b="1" dirty="0">
              <a:solidFill>
                <a:schemeClr val="bg1"/>
              </a:solidFill>
            </a:endParaRPr>
          </a:p>
          <a:p>
            <a:pPr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25418E"/>
              </a:buClr>
              <a:buSzPct val="200000"/>
            </a:pPr>
            <a:r>
              <a:rPr lang="es-UY" sz="1500" dirty="0">
                <a:solidFill>
                  <a:schemeClr val="tx1"/>
                </a:solidFill>
              </a:rPr>
              <a:t>Se espera que el río aumente su nivel en las próximas horas aunque se mantendría por debajo de la cota de aviso (6.05 m) entre el 28 y 29 octubre 2025. </a:t>
            </a:r>
            <a:r>
              <a:rPr lang="es-ES" sz="1500" dirty="0">
                <a:solidFill>
                  <a:schemeClr val="tx1"/>
                </a:solidFill>
              </a:rPr>
              <a:t>La posibilidad de afectación a vivienda (cota seguridad 8.20 m) es baja. </a:t>
            </a:r>
          </a:p>
          <a:p>
            <a:pPr marL="0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25418E"/>
              </a:buClr>
              <a:buSzPct val="200000"/>
              <a:buNone/>
            </a:pPr>
            <a:r>
              <a:rPr lang="es-UY" sz="1500" b="1" dirty="0">
                <a:solidFill>
                  <a:schemeClr val="tx1"/>
                </a:solidFill>
                <a:highlight>
                  <a:srgbClr val="FFFF00"/>
                </a:highlight>
              </a:rPr>
              <a:t>Atención</a:t>
            </a:r>
            <a:endParaRPr lang="es-UY" sz="1500" b="1" dirty="0">
              <a:solidFill>
                <a:schemeClr val="bg1"/>
              </a:solidFill>
              <a:highlight>
                <a:srgbClr val="FFFF00"/>
              </a:highlight>
            </a:endParaRPr>
          </a:p>
          <a:p>
            <a:pPr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25418E"/>
              </a:buClr>
              <a:buSzPct val="200000"/>
            </a:pPr>
            <a:r>
              <a:rPr lang="es-UY" sz="1500" dirty="0">
                <a:solidFill>
                  <a:schemeClr val="tx1"/>
                </a:solidFill>
              </a:rPr>
              <a:t>Debido a las lluvias registradas, es esperable incrementos de nivel en los ríos y arroyos que aportan al río Uruguay (Río Queguay) en los departamentos de Paysandú y Río Negro. No se descarta algún impacto puntual en dichos departamentos, como por ejemplo: corte de rutas o anegamiento. </a:t>
            </a:r>
          </a:p>
          <a:p>
            <a:pPr marL="0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25418E"/>
              </a:buClr>
              <a:buSzPct val="200000"/>
              <a:buNone/>
            </a:pPr>
            <a:r>
              <a:rPr lang="es-ES" sz="1500" b="1" dirty="0">
                <a:solidFill>
                  <a:schemeClr val="bg1"/>
                </a:solidFill>
                <a:highlight>
                  <a:srgbClr val="FFC000"/>
                </a:highlight>
              </a:rPr>
              <a:t>Preparación</a:t>
            </a:r>
            <a:endParaRPr lang="es-ES" sz="1500" b="1" dirty="0">
              <a:solidFill>
                <a:schemeClr val="bg1"/>
              </a:solidFill>
            </a:endParaRPr>
          </a:p>
          <a:p>
            <a:pPr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25418E"/>
              </a:buClr>
              <a:buSzPct val="200000"/>
            </a:pPr>
            <a:r>
              <a:rPr lang="es-ES" sz="1500" dirty="0">
                <a:solidFill>
                  <a:schemeClr val="tx1"/>
                </a:solidFill>
              </a:rPr>
              <a:t>Se recomienda vigilancia a las condiciones meteorológicas y niveles aguas arriba. En el caso de cambio de situación se actualizará el pronóstico</a:t>
            </a:r>
            <a:endParaRPr lang="es-UY" sz="1500" noProof="0" dirty="0">
              <a:solidFill>
                <a:schemeClr val="tx1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25418E"/>
              </a:buClr>
              <a:buSzPct val="200000"/>
              <a:buNone/>
            </a:pPr>
            <a:r>
              <a:rPr lang="es-UY" sz="1500" b="1" dirty="0">
                <a:solidFill>
                  <a:schemeClr val="bg1"/>
                </a:solidFill>
                <a:highlight>
                  <a:srgbClr val="FF0000"/>
                </a:highlight>
              </a:rPr>
              <a:t>Tomar acción: </a:t>
            </a:r>
          </a:p>
          <a:p>
            <a:pPr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25418E"/>
              </a:buClr>
              <a:buSzPct val="200000"/>
            </a:pPr>
            <a:r>
              <a:rPr lang="es-UY" sz="1500" dirty="0">
                <a:solidFill>
                  <a:schemeClr val="tx1"/>
                </a:solidFill>
              </a:rPr>
              <a:t>Incrementos de nivel en los ríos Cuareim, Santa Lucia, Rosario, Daymán, Arapey, San José y afluentes al tramo inferior del río Negro. Se recomienda vigilancia en los niveles de agua aunque no se espera afectaciones generalizadas por inundaciones.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F739A5B-51D3-512D-3806-36AAFD14310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98407" y="69021"/>
            <a:ext cx="11879262" cy="41275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s-UY" dirty="0"/>
              <a:t>Advertencia hidrológica por Inundaciones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B9160D-938E-E970-8AE4-231322607C6A}"/>
              </a:ext>
            </a:extLst>
          </p:cNvPr>
          <p:cNvSpPr txBox="1"/>
          <p:nvPr/>
        </p:nvSpPr>
        <p:spPr>
          <a:xfrm>
            <a:off x="198407" y="438523"/>
            <a:ext cx="1187857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b="1" dirty="0">
                <a:solidFill>
                  <a:schemeClr val="bg1"/>
                </a:solidFill>
                <a:latin typeface="Arial Nova" panose="020B0504020202020204" pitchFamily="34" charset="0"/>
              </a:rPr>
              <a:t>Fecha emisión: jueves, 21 mayo 2026 – Próxima actualización: viernes, 22 de mayo de 2026</a:t>
            </a:r>
            <a:endParaRPr lang="es-UY" sz="1100" b="1" dirty="0">
              <a:solidFill>
                <a:schemeClr val="bg1"/>
              </a:solidFill>
              <a:latin typeface="Arial Nova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96918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ersonalizado 1">
      <a:majorFont>
        <a:latin typeface="Open Sans SemiBold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1" id="{00F5B2AD-042E-45D0-A235-7337674A6A6D}" vid="{0B596D0D-A992-4EDF-9517-E5412AD51D1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9490</TotalTime>
  <Words>391</Words>
  <Application>Microsoft Office PowerPoint</Application>
  <PresentationFormat>Widescreen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Arial Nova</vt:lpstr>
      <vt:lpstr>Calibri</vt:lpstr>
      <vt:lpstr>Open Sans</vt:lpstr>
      <vt:lpstr>Tema de Office</vt:lpstr>
      <vt:lpstr>Estado hidrológico actual</vt:lpstr>
      <vt:lpstr>Advertencia hidrológica por Inundaciones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ppt Presidencia</dc:title>
  <dc:creator>Cyro</dc:creator>
  <cp:lastModifiedBy>Jose Valles</cp:lastModifiedBy>
  <cp:revision>268</cp:revision>
  <dcterms:created xsi:type="dcterms:W3CDTF">2020-08-26T18:42:29Z</dcterms:created>
  <dcterms:modified xsi:type="dcterms:W3CDTF">2026-07-20T13:31:41Z</dcterms:modified>
</cp:coreProperties>
</file>